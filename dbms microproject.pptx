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3"/>
  </p:notesMasterIdLst>
  <p:handoutMasterIdLst>
    <p:handoutMasterId r:id="rId14"/>
  </p:handoutMasterIdLst>
  <p:sldIdLst>
    <p:sldId id="317" r:id="rId5"/>
    <p:sldId id="307" r:id="rId6"/>
    <p:sldId id="308" r:id="rId7"/>
    <p:sldId id="278" r:id="rId8"/>
    <p:sldId id="309" r:id="rId9"/>
    <p:sldId id="310" r:id="rId10"/>
    <p:sldId id="311" r:id="rId11"/>
    <p:sldId id="30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5405" autoAdjust="0"/>
  </p:normalViewPr>
  <p:slideViewPr>
    <p:cSldViewPr snapToGrid="0">
      <p:cViewPr varScale="1">
        <p:scale>
          <a:sx n="94" d="100"/>
          <a:sy n="94" d="100"/>
        </p:scale>
        <p:origin x="182" y="8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3/28/2026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3/28/2026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onizuka83.wordpress.com/2006/04/10/hoste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1"/><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www.rawpixel.com/search/woma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i="1" u="sng" dirty="0"/>
              <a:t>STUDENT  ROOMMATE  AND  PG  FINDER WITH  COMPATIBILITY  MATCHING </a:t>
            </a:r>
          </a:p>
        </p:txBody>
      </p:sp>
      <p:sp>
        <p:nvSpPr>
          <p:cNvPr id="2" name="TextBox 1">
            <a:extLst>
              <a:ext uri="{FF2B5EF4-FFF2-40B4-BE49-F238E27FC236}">
                <a16:creationId xmlns:a16="http://schemas.microsoft.com/office/drawing/2014/main" id="{11AD5484-9F18-9D2A-7D39-6D9B889AF7AB}"/>
              </a:ext>
            </a:extLst>
          </p:cNvPr>
          <p:cNvSpPr txBox="1"/>
          <p:nvPr/>
        </p:nvSpPr>
        <p:spPr>
          <a:xfrm>
            <a:off x="8425543" y="4457700"/>
            <a:ext cx="3551464" cy="2308324"/>
          </a:xfrm>
          <a:prstGeom prst="rect">
            <a:avLst/>
          </a:prstGeom>
          <a:noFill/>
        </p:spPr>
        <p:txBody>
          <a:bodyPr wrap="square" rtlCol="0">
            <a:spAutoFit/>
          </a:bodyPr>
          <a:lstStyle/>
          <a:p>
            <a:r>
              <a:rPr lang="en-US" sz="2400" dirty="0">
                <a:solidFill>
                  <a:schemeClr val="bg2">
                    <a:lumMod val="10000"/>
                  </a:schemeClr>
                </a:solidFill>
                <a:latin typeface="Algerian" panose="04020705040A02060702" pitchFamily="82" charset="0"/>
              </a:rPr>
              <a:t>TEAM MEMBERS</a:t>
            </a:r>
          </a:p>
          <a:p>
            <a:pPr marL="342900" indent="-342900">
              <a:buAutoNum type="arabicPeriod"/>
            </a:pPr>
            <a:r>
              <a:rPr lang="en-US" sz="2400" dirty="0">
                <a:solidFill>
                  <a:schemeClr val="bg2">
                    <a:lumMod val="10000"/>
                  </a:schemeClr>
                </a:solidFill>
                <a:latin typeface="Algerian" panose="04020705040A02060702" pitchFamily="82" charset="0"/>
              </a:rPr>
              <a:t>JESBIN SHAJU </a:t>
            </a:r>
          </a:p>
          <a:p>
            <a:pPr marL="342900" indent="-342900">
              <a:buAutoNum type="arabicPeriod"/>
            </a:pPr>
            <a:r>
              <a:rPr lang="en-US" sz="2400" dirty="0">
                <a:solidFill>
                  <a:schemeClr val="bg2">
                    <a:lumMod val="10000"/>
                  </a:schemeClr>
                </a:solidFill>
                <a:latin typeface="Algerian" panose="04020705040A02060702" pitchFamily="82" charset="0"/>
              </a:rPr>
              <a:t>JESS JOHNSON </a:t>
            </a:r>
          </a:p>
          <a:p>
            <a:pPr marL="342900" indent="-342900">
              <a:buAutoNum type="arabicPeriod"/>
            </a:pPr>
            <a:r>
              <a:rPr lang="en-US" sz="2400" dirty="0">
                <a:solidFill>
                  <a:schemeClr val="bg2">
                    <a:lumMod val="10000"/>
                  </a:schemeClr>
                </a:solidFill>
                <a:latin typeface="Algerian" panose="04020705040A02060702" pitchFamily="82" charset="0"/>
              </a:rPr>
              <a:t>JEWEL THOMAS </a:t>
            </a:r>
          </a:p>
          <a:p>
            <a:pPr marL="342900" indent="-342900">
              <a:buAutoNum type="arabicPeriod"/>
            </a:pPr>
            <a:r>
              <a:rPr lang="en-US" sz="2400" dirty="0">
                <a:solidFill>
                  <a:schemeClr val="bg2">
                    <a:lumMod val="10000"/>
                  </a:schemeClr>
                </a:solidFill>
                <a:latin typeface="Algerian" panose="04020705040A02060702" pitchFamily="82" charset="0"/>
              </a:rPr>
              <a:t>K MUHAMMAD ANSAF </a:t>
            </a:r>
            <a:endParaRPr lang="en-IN" sz="2400" dirty="0">
              <a:solidFill>
                <a:schemeClr val="bg2">
                  <a:lumMod val="10000"/>
                </a:schemeClr>
              </a:solidFill>
              <a:latin typeface="Algerian" panose="04020705040A02060702" pitchFamily="82" charset="0"/>
            </a:endParaRP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001467" y="914400"/>
            <a:ext cx="5641848" cy="5029200"/>
          </a:xfrm>
        </p:spPr>
        <p:txBody>
          <a:bodyPr/>
          <a:lstStyle/>
          <a:p>
            <a:r>
              <a:rPr lang="en-US" dirty="0"/>
              <a:t>agenda</a:t>
            </a:r>
          </a:p>
        </p:txBody>
      </p:sp>
      <p:graphicFrame>
        <p:nvGraphicFramePr>
          <p:cNvPr id="6" name="Table 4">
            <a:extLst>
              <a:ext uri="{FF2B5EF4-FFF2-40B4-BE49-F238E27FC236}">
                <a16:creationId xmlns:a16="http://schemas.microsoft.com/office/drawing/2014/main" id="{0D6FB95E-6987-A57C-3663-3FD6F6FAC24E}"/>
              </a:ext>
            </a:extLst>
          </p:cNvPr>
          <p:cNvGraphicFramePr>
            <a:graphicFrameLocks noGrp="1"/>
          </p:cNvGraphicFramePr>
          <p:nvPr>
            <p:ph idx="1"/>
            <p:extLst>
              <p:ext uri="{D42A27DB-BD31-4B8C-83A1-F6EECF244321}">
                <p14:modId xmlns:p14="http://schemas.microsoft.com/office/powerpoint/2010/main" val="1213516815"/>
              </p:ext>
            </p:extLst>
          </p:nvPr>
        </p:nvGraphicFramePr>
        <p:xfrm>
          <a:off x="6869113" y="1143000"/>
          <a:ext cx="4190999" cy="4844510"/>
        </p:xfrm>
        <a:graphic>
          <a:graphicData uri="http://schemas.openxmlformats.org/drawingml/2006/table">
            <a:tbl>
              <a:tblPr firstRow="1" bandRow="1"/>
              <a:tblGrid>
                <a:gridCol w="4190999">
                  <a:extLst>
                    <a:ext uri="{9D8B030D-6E8A-4147-A177-3AD203B41FA5}">
                      <a16:colId xmlns:a16="http://schemas.microsoft.com/office/drawing/2014/main" val="1563570424"/>
                    </a:ext>
                  </a:extLst>
                </a:gridCol>
              </a:tblGrid>
              <a:tr h="78279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latin typeface="+mn-lt"/>
                          <a:cs typeface="Gill Sans Light" panose="020B0302020104020203" pitchFamily="34" charset="-79"/>
                        </a:rPr>
                        <a:t>REAL WORLD SCENARIO</a:t>
                      </a:r>
                    </a:p>
                    <a:p>
                      <a:pPr algn="r"/>
                      <a:r>
                        <a:rPr lang="en-US" sz="2400" b="0" dirty="0">
                          <a:latin typeface="+mj-lt"/>
                        </a:rPr>
                        <a:t>3</a:t>
                      </a: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979008">
                <a:tc>
                  <a:txBody>
                    <a:bodyPr/>
                    <a:lstStyle/>
                    <a:p>
                      <a:pPr algn="r"/>
                      <a:r>
                        <a:rPr lang="en-US" sz="2400" b="0" dirty="0"/>
                        <a:t>PROPOSED SOLUTION </a:t>
                      </a:r>
                    </a:p>
                    <a:p>
                      <a:pPr marL="0" algn="r" defTabSz="914400" rtl="0" eaLnBrk="1" latinLnBrk="0" hangingPunct="1"/>
                      <a:r>
                        <a:rPr lang="en-US" sz="2400" b="0" kern="1200" dirty="0">
                          <a:solidFill>
                            <a:schemeClr val="tx1"/>
                          </a:solidFill>
                          <a:latin typeface="+mj-lt"/>
                          <a:ea typeface="+mn-ea"/>
                          <a:cs typeface="+mn-cs"/>
                        </a:rPr>
                        <a:t>4</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998987">
                <a:tc>
                  <a:txBody>
                    <a:bodyPr/>
                    <a:lstStyle/>
                    <a:p>
                      <a:pPr algn="r"/>
                      <a:r>
                        <a:rPr lang="en-US" sz="2400" b="0" dirty="0"/>
                        <a:t>SYSTEM ARCHITECTURE </a:t>
                      </a:r>
                    </a:p>
                    <a:p>
                      <a:pPr marL="0" algn="r" defTabSz="914400" rtl="0" eaLnBrk="1" latinLnBrk="0" hangingPunct="1"/>
                      <a:r>
                        <a:rPr lang="en-US" sz="2400" b="0" kern="1200" dirty="0">
                          <a:solidFill>
                            <a:schemeClr val="tx1"/>
                          </a:solidFill>
                          <a:latin typeface="+mj-lt"/>
                          <a:ea typeface="+mn-ea"/>
                          <a:cs typeface="+mn-cs"/>
                        </a:rPr>
                        <a:t>5</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95902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latin typeface="+mn-lt"/>
                          <a:cs typeface="Gill Sans Light" panose="020B0302020104020203" pitchFamily="34" charset="-79"/>
                        </a:rPr>
                        <a:t>IMAPCT AND COST EFFICIENCY </a:t>
                      </a:r>
                    </a:p>
                    <a:p>
                      <a:pPr marL="0" algn="r" defTabSz="914400" rtl="0" eaLnBrk="1" latinLnBrk="0" hangingPunct="1"/>
                      <a:r>
                        <a:rPr lang="en-US" sz="2400" b="0" kern="1200" dirty="0">
                          <a:solidFill>
                            <a:schemeClr val="tx1"/>
                          </a:solidFill>
                          <a:latin typeface="+mj-lt"/>
                          <a:ea typeface="+mn-ea"/>
                          <a:cs typeface="+mn-cs"/>
                        </a:rPr>
                        <a:t> 6</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r h="85483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latin typeface="+mn-lt"/>
                          <a:cs typeface="Gill Sans Light" panose="020B0302020104020203" pitchFamily="34" charset="-79"/>
                        </a:rPr>
                        <a:t>SDG MAPPING </a:t>
                      </a:r>
                    </a:p>
                    <a:p>
                      <a:pPr marL="0" algn="r" defTabSz="914400" rtl="0" eaLnBrk="1" latinLnBrk="0" hangingPunct="1"/>
                      <a:r>
                        <a:rPr lang="en-US" sz="2400" b="0" kern="1200" dirty="0">
                          <a:solidFill>
                            <a:schemeClr val="tx1"/>
                          </a:solidFill>
                          <a:latin typeface="+mj-lt"/>
                          <a:ea typeface="+mn-ea"/>
                          <a:cs typeface="+mn-cs"/>
                        </a:rPr>
                        <a:t>7 </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bl>
          </a:graphicData>
        </a:graphic>
      </p:graphicFrame>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914400" y="-1"/>
            <a:ext cx="5641848" cy="5919107"/>
          </a:xfrm>
        </p:spPr>
        <p:txBody>
          <a:bodyPr/>
          <a:lstStyle/>
          <a:p>
            <a:r>
              <a:rPr lang="en-US" sz="3200" u="sng" dirty="0"/>
              <a:t>REAL WORLD SCENARIO </a:t>
            </a:r>
            <a:br>
              <a:rPr lang="en-US" dirty="0"/>
            </a:br>
            <a:br>
              <a:rPr lang="en-US" dirty="0"/>
            </a:br>
            <a:r>
              <a:rPr lang="en-US" sz="1600" dirty="0">
                <a:latin typeface="Times New Roman" panose="02020603050405020304" pitchFamily="18" charset="0"/>
                <a:ea typeface="Tahoma" panose="020B0604030504040204" pitchFamily="34" charset="0"/>
                <a:cs typeface="Times New Roman" panose="02020603050405020304" pitchFamily="18" charset="0"/>
              </a:rPr>
              <a:t>Students moving to a new city for higher education often struggle to find safe, affordable, and comfortable accommodation.</a:t>
            </a:r>
            <a:br>
              <a:rPr lang="en-US" sz="1600" dirty="0">
                <a:latin typeface="Times New Roman" panose="02020603050405020304" pitchFamily="18" charset="0"/>
                <a:ea typeface="Tahoma" panose="020B0604030504040204" pitchFamily="34" charset="0"/>
                <a:cs typeface="Times New Roman" panose="02020603050405020304" pitchFamily="18" charset="0"/>
              </a:rPr>
            </a:br>
            <a:br>
              <a:rPr lang="en-US" sz="1600" dirty="0">
                <a:latin typeface="Times New Roman" panose="02020603050405020304" pitchFamily="18" charset="0"/>
                <a:ea typeface="Tahoma" panose="020B0604030504040204" pitchFamily="34" charset="0"/>
                <a:cs typeface="Times New Roman" panose="02020603050405020304" pitchFamily="18" charset="0"/>
              </a:rPr>
            </a:br>
            <a:r>
              <a:rPr lang="en-US" sz="1600" dirty="0">
                <a:latin typeface="Times New Roman" panose="02020603050405020304" pitchFamily="18" charset="0"/>
                <a:ea typeface="Tahoma" panose="020B0604030504040204" pitchFamily="34" charset="0"/>
                <a:cs typeface="Times New Roman" panose="02020603050405020304" pitchFamily="18" charset="0"/>
              </a:rPr>
              <a:t> They rely on informal sources like social media or word of mouth, which may not provide accurate or trustworthy information. </a:t>
            </a:r>
            <a:br>
              <a:rPr lang="en-US" sz="1600" dirty="0">
                <a:latin typeface="Times New Roman" panose="02020603050405020304" pitchFamily="18" charset="0"/>
                <a:ea typeface="Tahoma" panose="020B0604030504040204" pitchFamily="34" charset="0"/>
                <a:cs typeface="Times New Roman" panose="02020603050405020304" pitchFamily="18" charset="0"/>
              </a:rPr>
            </a:br>
            <a:br>
              <a:rPr lang="en-US" sz="1600" dirty="0">
                <a:latin typeface="Times New Roman" panose="02020603050405020304" pitchFamily="18" charset="0"/>
                <a:ea typeface="Tahoma" panose="020B0604030504040204" pitchFamily="34" charset="0"/>
                <a:cs typeface="Times New Roman" panose="02020603050405020304" pitchFamily="18" charset="0"/>
              </a:rPr>
            </a:br>
            <a:r>
              <a:rPr lang="en-US" sz="1600" dirty="0">
                <a:latin typeface="Times New Roman" panose="02020603050405020304" pitchFamily="18" charset="0"/>
                <a:ea typeface="Tahoma" panose="020B0604030504040204" pitchFamily="34" charset="0"/>
                <a:cs typeface="Times New Roman" panose="02020603050405020304" pitchFamily="18" charset="0"/>
              </a:rPr>
              <a:t>Additionally, finding roommates with similar habits becomes difficult, leading to conflicts and inconvenience in daily life.</a:t>
            </a:r>
            <a:br>
              <a:rPr lang="en-US" sz="1600" dirty="0">
                <a:latin typeface="Times New Roman" panose="02020603050405020304" pitchFamily="18" charset="0"/>
                <a:ea typeface="Tahoma" panose="020B0604030504040204" pitchFamily="34" charset="0"/>
                <a:cs typeface="Times New Roman" panose="02020603050405020304" pitchFamily="18" charset="0"/>
              </a:rPr>
            </a:br>
            <a:br>
              <a:rPr lang="en-US" sz="1600" dirty="0">
                <a:latin typeface="Times New Roman" panose="02020603050405020304" pitchFamily="18" charset="0"/>
                <a:ea typeface="Tahoma" panose="020B0604030504040204" pitchFamily="34" charset="0"/>
                <a:cs typeface="Times New Roman" panose="02020603050405020304" pitchFamily="18" charset="0"/>
              </a:rPr>
            </a:br>
            <a:r>
              <a:rPr lang="en-US" sz="1600" dirty="0">
                <a:latin typeface="Times New Roman" panose="02020603050405020304" pitchFamily="18" charset="0"/>
                <a:ea typeface="Tahoma" panose="020B0604030504040204" pitchFamily="34" charset="0"/>
                <a:cs typeface="Times New Roman" panose="02020603050405020304" pitchFamily="18" charset="0"/>
              </a:rPr>
              <a:t>The main issue lies in the absence of a centralized system that considers both accommodation availability and roommate compatibility. </a:t>
            </a:r>
            <a:br>
              <a:rPr lang="en-US" sz="1600" dirty="0">
                <a:latin typeface="Times New Roman" panose="02020603050405020304" pitchFamily="18" charset="0"/>
                <a:ea typeface="Tahoma" panose="020B0604030504040204" pitchFamily="34" charset="0"/>
                <a:cs typeface="Times New Roman" panose="02020603050405020304" pitchFamily="18" charset="0"/>
              </a:rPr>
            </a:br>
            <a:br>
              <a:rPr lang="en-US" sz="1600" dirty="0">
                <a:latin typeface="Times New Roman" panose="02020603050405020304" pitchFamily="18" charset="0"/>
                <a:ea typeface="Tahoma" panose="020B0604030504040204" pitchFamily="34" charset="0"/>
                <a:cs typeface="Times New Roman" panose="02020603050405020304" pitchFamily="18" charset="0"/>
              </a:rPr>
            </a:br>
            <a:r>
              <a:rPr lang="en-US" sz="1600" dirty="0">
                <a:latin typeface="Times New Roman" panose="02020603050405020304" pitchFamily="18" charset="0"/>
                <a:ea typeface="Tahoma" panose="020B0604030504040204" pitchFamily="34" charset="0"/>
                <a:cs typeface="Times New Roman" panose="02020603050405020304" pitchFamily="18" charset="0"/>
              </a:rPr>
              <a:t>Students spend a significant amount of time searching for PGs and still end up with mismatched roommates or inconvenient locations, affecting their comfort and productivity.</a:t>
            </a:r>
            <a:br>
              <a:rPr lang="en-US" dirty="0">
                <a:latin typeface="Times New Roman" panose="02020603050405020304" pitchFamily="18" charset="0"/>
                <a:ea typeface="Tahoma" panose="020B0604030504040204" pitchFamily="34" charset="0"/>
                <a:cs typeface="Times New Roman" panose="02020603050405020304" pitchFamily="18" charset="0"/>
              </a:rPr>
            </a:br>
            <a:endParaRPr lang="en-US"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6" name="Picture Placeholder 5">
            <a:extLst>
              <a:ext uri="{FF2B5EF4-FFF2-40B4-BE49-F238E27FC236}">
                <a16:creationId xmlns:a16="http://schemas.microsoft.com/office/drawing/2014/main" id="{65ADC7DB-3C8A-1633-E37A-3CC2EF18E456}"/>
              </a:ext>
            </a:extLst>
          </p:cNvPr>
          <p:cNvPicPr>
            <a:picLocks noGrp="1" noChangeAspect="1"/>
          </p:cNvPicPr>
          <p:nvPr>
            <p:ph type="pic" idx="1"/>
          </p:nvPr>
        </p:nvPicPr>
        <p:blipFill>
          <a:blip r:embed="rId3">
            <a:extLst>
              <a:ext uri="{837473B0-CC2E-450A-ABE3-18F120FF3D39}">
                <a1611:picAttrSrcUrl xmlns:a1611="http://schemas.microsoft.com/office/drawing/2016/11/main" r:id="rId4"/>
              </a:ext>
            </a:extLst>
          </a:blip>
          <a:srcRect t="3587" b="3587"/>
          <a:stretch>
            <a:fillRect/>
          </a:stretch>
        </p:blipFill>
        <p:spPr/>
      </p:pic>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4082143" y="155121"/>
            <a:ext cx="7194886" cy="1280161"/>
          </a:xfrm>
        </p:spPr>
        <p:txBody>
          <a:bodyPr anchor="b"/>
          <a:lstStyle/>
          <a:p>
            <a:r>
              <a:rPr lang="en-US" dirty="0"/>
              <a:t>PROPOSED SOLUTION </a:t>
            </a:r>
          </a:p>
        </p:txBody>
      </p:sp>
      <p:sp>
        <p:nvSpPr>
          <p:cNvPr id="11" name="Content Placeholder 10">
            <a:extLst>
              <a:ext uri="{FF2B5EF4-FFF2-40B4-BE49-F238E27FC236}">
                <a16:creationId xmlns:a16="http://schemas.microsoft.com/office/drawing/2014/main" id="{000EBDF4-3413-FCF9-2E25-9A254A61F23E}"/>
              </a:ext>
            </a:extLst>
          </p:cNvPr>
          <p:cNvSpPr>
            <a:spLocks noGrp="1"/>
          </p:cNvSpPr>
          <p:nvPr>
            <p:ph idx="10"/>
          </p:nvPr>
        </p:nvSpPr>
        <p:spPr>
          <a:xfrm>
            <a:off x="5827204" y="1738993"/>
            <a:ext cx="5449824" cy="4222895"/>
          </a:xfrm>
        </p:spPr>
        <p:txBody>
          <a:bodyPr/>
          <a:lstStyle/>
          <a:p>
            <a:r>
              <a:rPr lang="en-US" sz="1800" cap="none" dirty="0">
                <a:latin typeface="Times New Roman" panose="02020603050405020304" pitchFamily="18" charset="0"/>
                <a:cs typeface="Times New Roman" panose="02020603050405020304" pitchFamily="18" charset="0"/>
              </a:rPr>
              <a:t>The proposed system is a web-based application that integrates PG listing and roommate matching into a single platform</a:t>
            </a:r>
          </a:p>
          <a:p>
            <a:r>
              <a:rPr lang="en-US" sz="1800" cap="none" dirty="0">
                <a:latin typeface="Times New Roman" panose="02020603050405020304" pitchFamily="18" charset="0"/>
                <a:cs typeface="Times New Roman" panose="02020603050405020304" pitchFamily="18" charset="0"/>
              </a:rPr>
              <a:t> It allows students to input their preferences and uses structured database queries to suggest suitable </a:t>
            </a:r>
            <a:r>
              <a:rPr lang="en-US" sz="1800" cap="none" dirty="0" err="1">
                <a:latin typeface="Times New Roman" panose="02020603050405020304" pitchFamily="18" charset="0"/>
                <a:cs typeface="Times New Roman" panose="02020603050405020304" pitchFamily="18" charset="0"/>
              </a:rPr>
              <a:t>pg’s</a:t>
            </a:r>
            <a:r>
              <a:rPr lang="en-US" sz="1800" cap="none" dirty="0">
                <a:latin typeface="Times New Roman" panose="02020603050405020304" pitchFamily="18" charset="0"/>
                <a:cs typeface="Times New Roman" panose="02020603050405020304" pitchFamily="18" charset="0"/>
              </a:rPr>
              <a:t> and compatible roommates, making the process more efficient and personalized.</a:t>
            </a:r>
          </a:p>
          <a:p>
            <a:endParaRPr lang="en-US" sz="1800" cap="none" dirty="0">
              <a:latin typeface="Times New Roman" panose="02020603050405020304" pitchFamily="18" charset="0"/>
              <a:cs typeface="Times New Roman" panose="02020603050405020304" pitchFamily="18" charset="0"/>
            </a:endParaRPr>
          </a:p>
          <a:p>
            <a:r>
              <a:rPr lang="en-US" sz="1800" cap="none" dirty="0">
                <a:latin typeface="Times New Roman" panose="02020603050405020304" pitchFamily="18" charset="0"/>
                <a:cs typeface="Times New Roman" panose="02020603050405020304" pitchFamily="18" charset="0"/>
              </a:rPr>
              <a:t>It includes features like compatibility matching , rent splitting , preference recorder , contact , </a:t>
            </a:r>
            <a:r>
              <a:rPr lang="en-US" sz="1800" cap="none" dirty="0" err="1">
                <a:latin typeface="Times New Roman" panose="02020603050405020304" pitchFamily="18" charset="0"/>
                <a:cs typeface="Times New Roman" panose="02020603050405020304" pitchFamily="18" charset="0"/>
              </a:rPr>
              <a:t>pg</a:t>
            </a:r>
            <a:r>
              <a:rPr lang="en-US" sz="1800" cap="none" dirty="0">
                <a:latin typeface="Times New Roman" panose="02020603050405020304" pitchFamily="18" charset="0"/>
                <a:cs typeface="Times New Roman" panose="02020603050405020304" pitchFamily="18" charset="0"/>
              </a:rPr>
              <a:t> allocation </a:t>
            </a:r>
            <a:r>
              <a:rPr lang="en-US" sz="1800" cap="none" dirty="0" err="1">
                <a:latin typeface="Times New Roman" panose="02020603050405020304" pitchFamily="18" charset="0"/>
                <a:cs typeface="Times New Roman" panose="02020603050405020304" pitchFamily="18" charset="0"/>
              </a:rPr>
              <a:t>etc</a:t>
            </a:r>
            <a:r>
              <a:rPr lang="en-US" sz="1800" cap="none" dirty="0">
                <a:latin typeface="Times New Roman" panose="02020603050405020304" pitchFamily="18" charset="0"/>
                <a:cs typeface="Times New Roman" panose="02020603050405020304" pitchFamily="18" charset="0"/>
              </a:rPr>
              <a:t> ….</a:t>
            </a:r>
          </a:p>
          <a:p>
            <a:endParaRPr lang="en-US" sz="1800" cap="none" dirty="0">
              <a:latin typeface="Times New Roman" panose="02020603050405020304" pitchFamily="18" charset="0"/>
              <a:cs typeface="Times New Roman" panose="02020603050405020304" pitchFamily="18" charset="0"/>
            </a:endParaRPr>
          </a:p>
          <a:p>
            <a:r>
              <a:rPr lang="en-US" sz="1800" cap="none" dirty="0">
                <a:latin typeface="Times New Roman" panose="02020603050405020304" pitchFamily="18" charset="0"/>
                <a:cs typeface="Times New Roman" panose="02020603050405020304" pitchFamily="18" charset="0"/>
              </a:rPr>
              <a:t>The system uses SQL queries to perform key operations. Compatibility between students is calculated based on their preferences using logical conditions</a:t>
            </a:r>
            <a:r>
              <a:rPr lang="en-US" sz="1800" dirty="0"/>
              <a:t>.</a:t>
            </a:r>
            <a:endParaRPr lang="en-US" sz="1800" cap="none" dirty="0">
              <a:latin typeface="Times New Roman" panose="02020603050405020304" pitchFamily="18" charset="0"/>
              <a:cs typeface="Times New Roman" panose="02020603050405020304" pitchFamily="18" charset="0"/>
            </a:endParaRPr>
          </a:p>
        </p:txBody>
      </p:sp>
      <p:pic>
        <p:nvPicPr>
          <p:cNvPr id="12" name="Picture Placeholder 11">
            <a:extLst>
              <a:ext uri="{FF2B5EF4-FFF2-40B4-BE49-F238E27FC236}">
                <a16:creationId xmlns:a16="http://schemas.microsoft.com/office/drawing/2014/main" id="{758FEB51-EA1E-D392-2B22-43ABF8999A59}"/>
              </a:ext>
            </a:extLst>
          </p:cNvPr>
          <p:cNvPicPr>
            <a:picLocks noGrp="1" noChangeAspect="1"/>
          </p:cNvPicPr>
          <p:nvPr>
            <p:ph type="pic" sz="quarter" idx="11"/>
          </p:nvPr>
        </p:nvPicPr>
        <p:blipFill>
          <a:blip r:embed="rId3">
            <a:extLst>
              <a:ext uri="{837473B0-CC2E-450A-ABE3-18F120FF3D39}">
                <a1611:picAttrSrcUrl xmlns:a1611="http://schemas.microsoft.com/office/drawing/2016/11/main" r:id="rId4"/>
              </a:ext>
            </a:extLst>
          </a:blip>
          <a:srcRect l="27716" r="27716"/>
          <a:stretch>
            <a:fillRect/>
          </a:stretch>
        </p:blipFill>
        <p:spPr/>
      </p:pic>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914400" y="204108"/>
            <a:ext cx="7534656" cy="922564"/>
          </a:xfrm>
        </p:spPr>
        <p:txBody>
          <a:bodyPr/>
          <a:lstStyle/>
          <a:p>
            <a:r>
              <a:rPr lang="en-US" dirty="0"/>
              <a:t>SYSTEM ARCHITECTURE </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0" y="1126673"/>
            <a:ext cx="5339443" cy="5421084"/>
          </a:xfrm>
        </p:spPr>
        <p:txBody>
          <a:bodyPr>
            <a:normAutofit/>
          </a:bodyPr>
          <a:lstStyle/>
          <a:p>
            <a:r>
              <a:rPr lang="en-US" dirty="0">
                <a:latin typeface="Times New Roman" panose="02020603050405020304" pitchFamily="18" charset="0"/>
                <a:cs typeface="Times New Roman" panose="02020603050405020304" pitchFamily="18" charset="0"/>
              </a:rPr>
              <a:t>The system follows a three-tier architecture. The frontend is developed using TypeScript to provide an interactive and responsive user interface. The backend logic is managed through structured processing, and PostgreSQL is used as the database to store and manage all data efficiently.</a:t>
            </a:r>
          </a:p>
          <a:p>
            <a:r>
              <a:rPr lang="en-US" dirty="0">
                <a:latin typeface="Times New Roman" panose="02020603050405020304" pitchFamily="18" charset="0"/>
                <a:cs typeface="Times New Roman" panose="02020603050405020304" pitchFamily="18" charset="0"/>
              </a:rPr>
              <a:t>The database is designed using a relational model with entities such as Student, Admin , PG Details, </a:t>
            </a:r>
            <a:r>
              <a:rPr lang="en-US" dirty="0" err="1">
                <a:latin typeface="Times New Roman" panose="02020603050405020304" pitchFamily="18" charset="0"/>
                <a:cs typeface="Times New Roman" panose="02020603050405020304" pitchFamily="18" charset="0"/>
              </a:rPr>
              <a:t>Bookingand</a:t>
            </a:r>
            <a:r>
              <a:rPr lang="en-US" dirty="0">
                <a:latin typeface="Times New Roman" panose="02020603050405020304" pitchFamily="18" charset="0"/>
                <a:cs typeface="Times New Roman" panose="02020603050405020304" pitchFamily="18" charset="0"/>
              </a:rPr>
              <a:t> Roommate Match. Relationships between these entities are maintained using primary and foreign keys to ensure data consistency and integrity</a:t>
            </a:r>
          </a:p>
          <a:p>
            <a:r>
              <a:rPr lang="en-US" dirty="0">
                <a:latin typeface="Times New Roman" panose="02020603050405020304" pitchFamily="18" charset="0"/>
                <a:cs typeface="Times New Roman" panose="02020603050405020304" pitchFamily="18" charset="0"/>
              </a:rPr>
              <a:t>. The system uses SQL queries to perform key operations. Compatibility between students is calculated based on their preferences using logical conditions</a:t>
            </a:r>
          </a:p>
          <a:p>
            <a:endParaRPr lang="en-US" dirty="0">
              <a:latin typeface="Times New Roman" panose="02020603050405020304" pitchFamily="18" charset="0"/>
              <a:cs typeface="Times New Roman" panose="02020603050405020304" pitchFamily="18" charset="0"/>
            </a:endParaRPr>
          </a:p>
          <a:p>
            <a:endParaRPr lang="en-US" dirty="0"/>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pic>
        <p:nvPicPr>
          <p:cNvPr id="6" name="Picture 5">
            <a:extLst>
              <a:ext uri="{FF2B5EF4-FFF2-40B4-BE49-F238E27FC236}">
                <a16:creationId xmlns:a16="http://schemas.microsoft.com/office/drawing/2014/main" id="{8B8AF12E-1773-A03A-E174-2CB42FAEB4F9}"/>
              </a:ext>
            </a:extLst>
          </p:cNvPr>
          <p:cNvPicPr>
            <a:picLocks noChangeAspect="1"/>
          </p:cNvPicPr>
          <p:nvPr/>
        </p:nvPicPr>
        <p:blipFill>
          <a:blip r:embed="rId3"/>
          <a:srcRect l="26584" t="31056" r="28281" b="34257"/>
          <a:stretch>
            <a:fillRect/>
          </a:stretch>
        </p:blipFill>
        <p:spPr>
          <a:xfrm>
            <a:off x="6852559" y="47397"/>
            <a:ext cx="5143500" cy="2078801"/>
          </a:xfrm>
          <a:prstGeom prst="rect">
            <a:avLst/>
          </a:prstGeom>
        </p:spPr>
      </p:pic>
      <p:pic>
        <p:nvPicPr>
          <p:cNvPr id="10" name="Picture 9">
            <a:extLst>
              <a:ext uri="{FF2B5EF4-FFF2-40B4-BE49-F238E27FC236}">
                <a16:creationId xmlns:a16="http://schemas.microsoft.com/office/drawing/2014/main" id="{CDF7D868-11FE-4BAF-6F78-E70C4A8AA0D1}"/>
              </a:ext>
            </a:extLst>
          </p:cNvPr>
          <p:cNvPicPr>
            <a:picLocks noChangeAspect="1"/>
          </p:cNvPicPr>
          <p:nvPr/>
        </p:nvPicPr>
        <p:blipFill>
          <a:blip r:embed="rId4"/>
          <a:srcRect l="15201" t="18205" r="15357" b="21786"/>
          <a:stretch>
            <a:fillRect/>
          </a:stretch>
        </p:blipFill>
        <p:spPr>
          <a:xfrm>
            <a:off x="6852559" y="2126198"/>
            <a:ext cx="5238859" cy="2315787"/>
          </a:xfrm>
          <a:prstGeom prst="rect">
            <a:avLst/>
          </a:prstGeom>
        </p:spPr>
      </p:pic>
      <p:pic>
        <p:nvPicPr>
          <p:cNvPr id="12" name="Picture 11">
            <a:extLst>
              <a:ext uri="{FF2B5EF4-FFF2-40B4-BE49-F238E27FC236}">
                <a16:creationId xmlns:a16="http://schemas.microsoft.com/office/drawing/2014/main" id="{35AC9C20-F331-CC99-5A5F-53F7F486A06A}"/>
              </a:ext>
            </a:extLst>
          </p:cNvPr>
          <p:cNvPicPr>
            <a:picLocks noChangeAspect="1"/>
          </p:cNvPicPr>
          <p:nvPr/>
        </p:nvPicPr>
        <p:blipFill>
          <a:blip r:embed="rId5"/>
          <a:srcRect l="15603" t="18809" r="15625" b="20952"/>
          <a:stretch>
            <a:fillRect/>
          </a:stretch>
        </p:blipFill>
        <p:spPr>
          <a:xfrm>
            <a:off x="6852558" y="4555017"/>
            <a:ext cx="5238859" cy="2220686"/>
          </a:xfrm>
          <a:prstGeom prst="rect">
            <a:avLst/>
          </a:prstGeom>
        </p:spPr>
      </p:pic>
    </p:spTree>
    <p:extLst>
      <p:ext uri="{BB962C8B-B14F-4D97-AF65-F5344CB8AC3E}">
        <p14:creationId xmlns:p14="http://schemas.microsoft.com/office/powerpoint/2010/main" val="196691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p:txBody>
          <a:bodyPr/>
          <a:lstStyle/>
          <a:p>
            <a:r>
              <a:rPr lang="en-US" dirty="0"/>
              <a:t>IMPACT AND COST EFFICIENCY </a:t>
            </a:r>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914400" y="2039112"/>
            <a:ext cx="4576953" cy="3877055"/>
          </a:xfrm>
        </p:spPr>
        <p:txBody>
          <a:bodyPr/>
          <a:lstStyle/>
          <a:p>
            <a:r>
              <a:rPr lang="en-US" dirty="0"/>
              <a:t>IMPACT </a:t>
            </a:r>
          </a:p>
          <a:p>
            <a:r>
              <a:rPr lang="en-US" dirty="0">
                <a:latin typeface="Times New Roman" panose="02020603050405020304" pitchFamily="18" charset="0"/>
                <a:cs typeface="Times New Roman" panose="02020603050405020304" pitchFamily="18" charset="0"/>
              </a:rPr>
              <a:t>This system significantly reduces the effort required to find accommodation and improves decision-making for students. It also benefits landlords by providing a platform to reach potential tenants easily, thereby creating a more efficient housing ecosystem.</a:t>
            </a:r>
          </a:p>
        </p:txBody>
      </p:sp>
      <p:sp>
        <p:nvSpPr>
          <p:cNvPr id="17" name="Content Placeholder 16">
            <a:extLst>
              <a:ext uri="{FF2B5EF4-FFF2-40B4-BE49-F238E27FC236}">
                <a16:creationId xmlns:a16="http://schemas.microsoft.com/office/drawing/2014/main" id="{2F3CEF66-C6D7-C765-24E7-1DCFB38FE51A}"/>
              </a:ext>
            </a:extLst>
          </p:cNvPr>
          <p:cNvSpPr>
            <a:spLocks noGrp="1"/>
          </p:cNvSpPr>
          <p:nvPr>
            <p:ph sz="quarter" idx="12"/>
          </p:nvPr>
        </p:nvSpPr>
        <p:spPr>
          <a:xfrm>
            <a:off x="6357747" y="2039112"/>
            <a:ext cx="4576953" cy="3877055"/>
          </a:xfrm>
        </p:spPr>
        <p:txBody>
          <a:bodyPr>
            <a:normAutofit lnSpcReduction="10000"/>
          </a:bodyPr>
          <a:lstStyle/>
          <a:p>
            <a:r>
              <a:rPr lang="en-US" dirty="0"/>
              <a:t>COST AND FEASIBILITY </a:t>
            </a:r>
          </a:p>
          <a:p>
            <a:r>
              <a:rPr lang="en-US" dirty="0">
                <a:latin typeface="Times New Roman" panose="02020603050405020304" pitchFamily="18" charset="0"/>
                <a:cs typeface="Times New Roman" panose="02020603050405020304" pitchFamily="18" charset="0"/>
              </a:rPr>
              <a:t>The project uses open-source technologies such as TypeScript and PostgreSQL, making it cost-effective. It can be developed and deployed with minimal resources, making it highly feasible for academic and practical implementation.</a:t>
            </a:r>
          </a:p>
          <a:p>
            <a:r>
              <a:rPr lang="en-US" dirty="0">
                <a:latin typeface="Times New Roman" panose="02020603050405020304" pitchFamily="18" charset="0"/>
                <a:cs typeface="Times New Roman" panose="02020603050405020304" pitchFamily="18" charset="0"/>
              </a:rPr>
              <a:t>The development process follows structured phases including requirement analysis, system design, database modeling, implementation, testing, and final deployment. This ensures a systematic and error-free development process.</a:t>
            </a:r>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pic>
        <p:nvPicPr>
          <p:cNvPr id="4" name="Picture 3">
            <a:extLst>
              <a:ext uri="{FF2B5EF4-FFF2-40B4-BE49-F238E27FC236}">
                <a16:creationId xmlns:a16="http://schemas.microsoft.com/office/drawing/2014/main" id="{F2B009E5-1FA9-9BB5-0E12-80FF75170DC2}"/>
              </a:ext>
            </a:extLst>
          </p:cNvPr>
          <p:cNvPicPr>
            <a:picLocks noChangeAspect="1"/>
          </p:cNvPicPr>
          <p:nvPr/>
        </p:nvPicPr>
        <p:blipFill>
          <a:blip r:embed="rId3"/>
          <a:srcRect l="15603" t="18333" r="16629" b="22500"/>
          <a:stretch>
            <a:fillRect/>
          </a:stretch>
        </p:blipFill>
        <p:spPr>
          <a:xfrm>
            <a:off x="432707" y="4432553"/>
            <a:ext cx="5568043" cy="23431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30106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p:txBody>
          <a:bodyPr/>
          <a:lstStyle/>
          <a:p>
            <a:r>
              <a:rPr lang="en-US" dirty="0"/>
              <a:t>SDG Mapping </a:t>
            </a:r>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914399" y="2039112"/>
            <a:ext cx="4784272" cy="3904488"/>
          </a:xfrm>
        </p:spPr>
        <p:txBody>
          <a:bodyPr/>
          <a:lstStyle/>
          <a:p>
            <a:pPr marL="0" indent="0">
              <a:buNone/>
            </a:pPr>
            <a:r>
              <a:rPr lang="en-IN" dirty="0"/>
              <a:t>SDG 4 – Quality Education</a:t>
            </a:r>
          </a:p>
          <a:p>
            <a:pPr marL="0" indent="0">
              <a:buNone/>
            </a:pPr>
            <a:r>
              <a:rPr lang="en-US" dirty="0">
                <a:latin typeface="Times New Roman" panose="02020603050405020304" pitchFamily="18" charset="0"/>
                <a:cs typeface="Times New Roman" panose="02020603050405020304" pitchFamily="18" charset="0"/>
              </a:rPr>
              <a:t>The system supports quality education by reducing the stress and time students spend searching for accommodation. By providing reliable and compatible living options, students can focus more effectively on their academic goals and maintain a stable lifestyle</a:t>
            </a:r>
            <a:r>
              <a:rPr lang="en-US" dirty="0"/>
              <a:t>.</a:t>
            </a:r>
          </a:p>
        </p:txBody>
      </p:sp>
      <p:sp>
        <p:nvSpPr>
          <p:cNvPr id="25" name="Content Placeholder 24">
            <a:extLst>
              <a:ext uri="{FF2B5EF4-FFF2-40B4-BE49-F238E27FC236}">
                <a16:creationId xmlns:a16="http://schemas.microsoft.com/office/drawing/2014/main" id="{7798761A-B671-4825-623F-F4726F2BDF28}"/>
              </a:ext>
            </a:extLst>
          </p:cNvPr>
          <p:cNvSpPr>
            <a:spLocks noGrp="1"/>
          </p:cNvSpPr>
          <p:nvPr>
            <p:ph sz="quarter" idx="12"/>
          </p:nvPr>
        </p:nvSpPr>
        <p:spPr>
          <a:xfrm>
            <a:off x="6095999" y="2039112"/>
            <a:ext cx="5185411" cy="3904488"/>
          </a:xfrm>
        </p:spPr>
        <p:txBody>
          <a:bodyPr/>
          <a:lstStyle/>
          <a:p>
            <a:r>
              <a:rPr lang="en-US" dirty="0"/>
              <a:t>SDG 11 – Sustainable Cities and Communities</a:t>
            </a:r>
          </a:p>
          <a:p>
            <a:r>
              <a:rPr lang="en-US" dirty="0">
                <a:latin typeface="Times New Roman" panose="02020603050405020304" pitchFamily="18" charset="0"/>
                <a:cs typeface="Times New Roman" panose="02020603050405020304" pitchFamily="18" charset="0"/>
              </a:rPr>
              <a:t>The platform promotes sustainable urban living by helping students find safe, affordable, and location-based housing. It ensures better utilization of available PG accommodations and improves accessibility within cities.</a:t>
            </a:r>
          </a:p>
          <a:p>
            <a:endParaRPr lang="en-US" dirty="0"/>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
        <p:nvSpPr>
          <p:cNvPr id="2" name="Rectangle: Rounded Corners 1">
            <a:extLst>
              <a:ext uri="{FF2B5EF4-FFF2-40B4-BE49-F238E27FC236}">
                <a16:creationId xmlns:a16="http://schemas.microsoft.com/office/drawing/2014/main" id="{0A1C9BB2-30CD-F5AF-90EF-C71D51310610}"/>
              </a:ext>
            </a:extLst>
          </p:cNvPr>
          <p:cNvSpPr/>
          <p:nvPr/>
        </p:nvSpPr>
        <p:spPr>
          <a:xfrm>
            <a:off x="563336" y="1959429"/>
            <a:ext cx="5185411" cy="3845378"/>
          </a:xfrm>
          <a:prstGeom prst="roundRect">
            <a:avLst/>
          </a:prstGeom>
          <a:noFill/>
          <a:ln w="28575">
            <a:solidFill>
              <a:schemeClr val="accent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7E9EF405-A210-AAC3-E87F-5C75ECE293AF}"/>
              </a:ext>
            </a:extLst>
          </p:cNvPr>
          <p:cNvSpPr/>
          <p:nvPr/>
        </p:nvSpPr>
        <p:spPr>
          <a:xfrm>
            <a:off x="5951765" y="1844687"/>
            <a:ext cx="5592536" cy="4019230"/>
          </a:xfrm>
          <a:prstGeom prst="roundRect">
            <a:avLst/>
          </a:prstGeom>
          <a:noFill/>
          <a:ln w="28575">
            <a:solidFill>
              <a:schemeClr val="accent1">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48348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56" y="914400"/>
            <a:ext cx="3867912" cy="5029200"/>
          </a:xfrm>
        </p:spPr>
        <p:txBody>
          <a:bodyPr anchor="ctr"/>
          <a:lstStyle/>
          <a:p>
            <a:endParaRPr lang="en-US" dirty="0"/>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{E2647637-5BF4-4E7F-8E5A-C75270859D64}tf11964407_win32</Template>
  <TotalTime>63</TotalTime>
  <Words>578</Words>
  <Application>Microsoft Office PowerPoint</Application>
  <PresentationFormat>Widescreen</PresentationFormat>
  <Paragraphs>52</Paragraphs>
  <Slides>8</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Algerian</vt:lpstr>
      <vt:lpstr>Arial</vt:lpstr>
      <vt:lpstr>Calibri</vt:lpstr>
      <vt:lpstr>Courier New</vt:lpstr>
      <vt:lpstr>Gill Sans Nova Light</vt:lpstr>
      <vt:lpstr>Sagona Book</vt:lpstr>
      <vt:lpstr>Times New Roman</vt:lpstr>
      <vt:lpstr>Custom</vt:lpstr>
      <vt:lpstr>STUDENT  ROOMMATE  AND  PG  FINDER WITH  COMPATIBILITY  MATCHING </vt:lpstr>
      <vt:lpstr>agenda</vt:lpstr>
      <vt:lpstr>REAL WORLD SCENARIO   Students moving to a new city for higher education often struggle to find safe, affordable, and comfortable accommodation.   They rely on informal sources like social media or word of mouth, which may not provide accurate or trustworthy information.   Additionally, finding roommates with similar habits becomes difficult, leading to conflicts and inconvenience in daily life.  The main issue lies in the absence of a centralized system that considers both accommodation availability and roommate compatibility.   Students spend a significant amount of time searching for PGs and still end up with mismatched roommates or inconvenient locations, affecting their comfort and productivity. </vt:lpstr>
      <vt:lpstr>PROPOSED SOLUTION </vt:lpstr>
      <vt:lpstr>SYSTEM ARCHITECTURE </vt:lpstr>
      <vt:lpstr>IMPACT AND COST EFFICIENCY </vt:lpstr>
      <vt:lpstr>SDG Mapping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Jewel Thomas</dc:creator>
  <cp:lastModifiedBy>Jewel Thomas</cp:lastModifiedBy>
  <cp:revision>3</cp:revision>
  <dcterms:created xsi:type="dcterms:W3CDTF">2026-03-26T15:52:32Z</dcterms:created>
  <dcterms:modified xsi:type="dcterms:W3CDTF">2026-03-28T04:14:36Z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