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Lobster" panose="00000500000000000000" pitchFamily="2" charset="0"/>
      <p:regular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kVKQ73WmFkrWEngWhz40Y8hS0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00"/>
    <a:srgbClr val="008000"/>
    <a:srgbClr val="009900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774FA2-0667-4CD5-ADD5-5A9EAD3D377C}">
  <a:tblStyle styleId="{05774FA2-0667-4CD5-ADD5-5A9EAD3D37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82" y="-1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after introducing the team, introduce the problem statement first, then spit out some facts and figures about jharkhand </a:t>
            </a: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First say about the app’s features then explain the points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Smart plan – soil health, weather forecast, market prices. Tells the best crops to grow in the upcoming seasons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Plant doctor – take a picture of plant and upload; tells you whats wrong and gives remedies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Profit – calculates the money that can be earned from the size of your land and the crop.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Farming assistant – sends reminders for watering,adding fertilizers,bad weather, to take action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Personal &amp; simple- personalized advice on soil, location, history using pics (include voice chat)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Stp b stp guide- during disease treatment, gives simple lists of steps-&gt; easy to follow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Clear financial- shows expected income &amp; expenses, avoiding unexpected costs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Works evrywhr- network availability and how the app performs</a:t>
            </a: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-&gt;Figma flow diagram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1.Data Sources (APIs)-[Label: “Land Prices, Tool Prices, Seed Prices, Selling Prices”.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Note: “Fetched via APIs or scraping”.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implementation: Set up API connectors (REST calls), Scheduler (e.g., CRON jobs) to pull daily/hourly data, Cache recent responses for offline sync.]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Data Aggregation &amp; Processing- [Label: “Cleaning, Normalization, Storage (Postgres + SQLite)”.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Note: “Converts raw API data into structured datasets”.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implementation: ETL pipeline (Python scripts / Node.js backend), Local DB sync module in the app to download latest snapshot.]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Prediction Engine-[Label: “Cost Calculation, Revenue Estimation, Profit Prediction, Forecasting (ML model)”.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Note: “Runs offline with cached data + lightweight ML model”.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implementation: Train model centrally, deploy ONNX/TFLite lightweight model inside the app, Runs offline using last cached data]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4. Farmer App (UI Layer)-[Label: “Multilingual UI, Market Insights, Profit/Revenue Predictions, Sustainability Score”.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Note: “Works offline with last synced dataset”.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implementation: Flutter/React Native,Local storage (SQLite/Realm DB),Background sync when online.]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downloaded when internet available &amp; automatic download if given consent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Gemini and whisper models to implement chat</a:t>
            </a:r>
            <a:endParaRPr/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Prototype demonstration</a:t>
            </a:r>
            <a:endParaRPr/>
          </a:p>
        </p:txBody>
      </p:sp>
      <p:sp>
        <p:nvSpPr>
          <p:cNvPr id="133" name="Google Shape;13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meti.org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indianapi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wer.larc.nasa.gov/" TargetMode="External"/><Relationship Id="rId5" Type="http://schemas.openxmlformats.org/officeDocument/2006/relationships/hyperlink" Target="https://bhuvan.nrsc.gov.in/" TargetMode="External"/><Relationship Id="rId4" Type="http://schemas.openxmlformats.org/officeDocument/2006/relationships/hyperlink" Target="https://soilhealth.dac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748220" y="851515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94633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75" y="463074"/>
            <a:ext cx="8534400" cy="1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75" y="1549700"/>
            <a:ext cx="6687363" cy="51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–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SIH25168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TITLE-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ENHANCING      FARMER </a:t>
            </a:r>
            <a:r>
              <a:rPr lang="en-US" sz="2000" b="1" spc="-1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PRODUCTIVITY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THROUGH INNOVATIVE TECHNOLOGY SOLUTIONS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THEME-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FOODTECH &amp; RURAL DEVELOPMENT 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SOFTWARE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78800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NAME (REGISTERED ON PORTAL)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CIPHER-SQUAD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4" name="Google Shape;94;p1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0" y="2064972"/>
            <a:ext cx="6351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 descr="Your startup LOGO"/>
          <p:cNvSpPr/>
          <p:nvPr/>
        </p:nvSpPr>
        <p:spPr>
          <a:xfrm>
            <a:off x="214131" y="108071"/>
            <a:ext cx="1539600" cy="858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5400" cap="flat" cmpd="sng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Cipher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Squad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04" name="Google Shape;104;p2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57650" y="1515750"/>
            <a:ext cx="4335800" cy="14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Smart planning for every harvest</a:t>
            </a:r>
          </a:p>
          <a:p>
            <a:pPr marL="457200" lvl="4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Accurate crop health insights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Profit insights at every stage</a:t>
            </a:r>
          </a:p>
          <a:p>
            <a:pPr marL="82550" lvl="0">
              <a:buClr>
                <a:srgbClr val="434343"/>
              </a:buClr>
              <a:buSzPts val="2300"/>
            </a:pPr>
            <a:endParaRPr lang="en-US" sz="2200" dirty="0"/>
          </a:p>
        </p:txBody>
      </p:sp>
      <p:sp>
        <p:nvSpPr>
          <p:cNvPr id="106" name="Google Shape;106;p2"/>
          <p:cNvSpPr txBox="1"/>
          <p:nvPr/>
        </p:nvSpPr>
        <p:spPr>
          <a:xfrm>
            <a:off x="-13252" y="4387504"/>
            <a:ext cx="115101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b="1" i="1" dirty="0">
                <a:solidFill>
                  <a:srgbClr val="009900"/>
                </a:solidFill>
              </a:rPr>
              <a:t>Crop Recommendation</a:t>
            </a:r>
            <a:r>
              <a:rPr lang="en-US" sz="2000" b="1" dirty="0"/>
              <a:t>:</a:t>
            </a:r>
            <a:r>
              <a:rPr lang="en-US" sz="2000" dirty="0"/>
              <a:t> Suggests crops using soil, weather, and resource data.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b="1" i="1" dirty="0">
                <a:solidFill>
                  <a:srgbClr val="009900"/>
                </a:solidFill>
              </a:rPr>
              <a:t>Yield &amp; Profit Calculation</a:t>
            </a:r>
            <a:r>
              <a:rPr lang="en-US" sz="2000" b="1" dirty="0"/>
              <a:t>:</a:t>
            </a:r>
            <a:r>
              <a:rPr lang="en-US" sz="2000" dirty="0"/>
              <a:t> Computes expected output and revenue using inputs, crop type, and local market trends.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b="1" i="1" dirty="0">
                <a:solidFill>
                  <a:srgbClr val="009900"/>
                </a:solidFill>
              </a:rPr>
              <a:t>Disease Detection</a:t>
            </a:r>
            <a:r>
              <a:rPr lang="en-US" sz="2000" b="1" dirty="0"/>
              <a:t>:</a:t>
            </a:r>
            <a:r>
              <a:rPr lang="en-US" sz="2000" dirty="0"/>
              <a:t> Analyzes crop images to identify issues early.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b="1" i="1" dirty="0">
                <a:solidFill>
                  <a:srgbClr val="009900"/>
                </a:solidFill>
              </a:rPr>
              <a:t>Market Adjustment</a:t>
            </a:r>
            <a:r>
              <a:rPr lang="en-US" sz="2000" b="1" dirty="0"/>
              <a:t>:</a:t>
            </a:r>
            <a:r>
              <a:rPr lang="en-US" sz="2000" dirty="0"/>
              <a:t> Considers regional trends to guide planting decisions.</a:t>
            </a:r>
            <a:endParaRPr lang="en-US" sz="2000" dirty="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5639" y="-34948"/>
            <a:ext cx="1202775" cy="11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4909018" y="28456"/>
            <a:ext cx="282110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n/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annaDATA</a:t>
            </a:r>
            <a:endParaRPr sz="4400" b="1" dirty="0">
              <a:ln/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5999" y="1208937"/>
            <a:ext cx="1202775" cy="2494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" name="Google Shape;111;p2" title="Home Window-page-0000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5744" y="1203169"/>
            <a:ext cx="1202775" cy="2494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2" name="Google Shape;11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54745" y="1203169"/>
            <a:ext cx="1202775" cy="2485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3" name="Google Shape;113;p2" title="Chat Hindi_page-0001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6743" y="1211536"/>
            <a:ext cx="1202775" cy="2485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5" name="Google Shape;115;p2"/>
          <p:cNvSpPr/>
          <p:nvPr/>
        </p:nvSpPr>
        <p:spPr>
          <a:xfrm>
            <a:off x="174550" y="1097786"/>
            <a:ext cx="5537555" cy="2698716"/>
          </a:xfrm>
          <a:prstGeom prst="snip1Rect">
            <a:avLst>
              <a:gd name="adj" fmla="val 16667"/>
            </a:avLst>
          </a:prstGeom>
          <a:noFill/>
          <a:ln w="19050" cap="flat" cmpd="sng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E028F-CB30-0D02-733E-174B76D79DF3}"/>
              </a:ext>
            </a:extLst>
          </p:cNvPr>
          <p:cNvSpPr txBox="1"/>
          <p:nvPr/>
        </p:nvSpPr>
        <p:spPr>
          <a:xfrm>
            <a:off x="-2732806" y="1074986"/>
            <a:ext cx="1151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Our Promise to Farmers</a:t>
            </a:r>
            <a:endParaRPr lang="en-US" sz="3600" dirty="0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0D38F-6D2E-3804-E628-A5DB69AC5C89}"/>
              </a:ext>
            </a:extLst>
          </p:cNvPr>
          <p:cNvSpPr txBox="1"/>
          <p:nvPr/>
        </p:nvSpPr>
        <p:spPr>
          <a:xfrm>
            <a:off x="143136" y="2530116"/>
            <a:ext cx="525397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/>
              <a:t>Timely alerts and recommendations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/>
              <a:t>Sustainable land use and soil protection</a:t>
            </a:r>
          </a:p>
          <a:p>
            <a:pPr marL="457200" lvl="0" indent="-374650">
              <a:buClr>
                <a:srgbClr val="434343"/>
              </a:buClr>
              <a:buSzPts val="2300"/>
              <a:buFont typeface="Oswald"/>
              <a:buChar char="●"/>
            </a:pPr>
            <a:r>
              <a:rPr lang="en-US" sz="2000" dirty="0"/>
              <a:t>Optimized resource usage for efficiency</a:t>
            </a:r>
            <a:endParaRPr lang="en-US" sz="2000" dirty="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B2106-23F4-94AC-B4F0-43554F40FB92}"/>
              </a:ext>
            </a:extLst>
          </p:cNvPr>
          <p:cNvSpPr txBox="1"/>
          <p:nvPr/>
        </p:nvSpPr>
        <p:spPr>
          <a:xfrm>
            <a:off x="140949" y="3904398"/>
            <a:ext cx="1151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How It Works</a:t>
            </a:r>
            <a:endParaRPr lang="en-IN" sz="3600" dirty="0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36F9F0E7-D479-982E-286B-BD33621B5DF7}"/>
              </a:ext>
            </a:extLst>
          </p:cNvPr>
          <p:cNvSpPr/>
          <p:nvPr/>
        </p:nvSpPr>
        <p:spPr>
          <a:xfrm>
            <a:off x="143136" y="3905417"/>
            <a:ext cx="11701514" cy="2359494"/>
          </a:xfrm>
          <a:prstGeom prst="snip1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1" y="-47625"/>
            <a:ext cx="1219199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25" name="Google Shape;12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6" name="Google Shape;126;p3" descr="Your startup LOGO"/>
          <p:cNvSpPr/>
          <p:nvPr/>
        </p:nvSpPr>
        <p:spPr>
          <a:xfrm>
            <a:off x="204702" y="22165"/>
            <a:ext cx="1576500" cy="9276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Cipher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Squad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27" name="Google Shape;127;p3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t="19728" b="23085"/>
          <a:stretch/>
        </p:blipFill>
        <p:spPr>
          <a:xfrm>
            <a:off x="5984111" y="1338290"/>
            <a:ext cx="5724875" cy="28170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629CC-1B1E-1FA5-679D-03B12D757E20}"/>
              </a:ext>
            </a:extLst>
          </p:cNvPr>
          <p:cNvSpPr txBox="1"/>
          <p:nvPr/>
        </p:nvSpPr>
        <p:spPr>
          <a:xfrm>
            <a:off x="204702" y="4911314"/>
            <a:ext cx="5463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i="1" dirty="0">
                <a:solidFill>
                  <a:srgbClr val="009900"/>
                </a:solidFill>
                <a:latin typeface="Arial" panose="020B0604020202020204" pitchFamily="34" charset="0"/>
              </a:rPr>
              <a:t>Mobile App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React Native (cross-platform, offline-capable)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i="1" dirty="0">
                <a:solidFill>
                  <a:srgbClr val="009900"/>
                </a:solidFill>
                <a:latin typeface="Arial" panose="020B0604020202020204" pitchFamily="34" charset="0"/>
              </a:rPr>
              <a:t>AI/ML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Hugging Face (disease), Gemini (crop prediction)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A2580-0ABF-C42B-E7F5-6EBAFD952BDE}"/>
              </a:ext>
            </a:extLst>
          </p:cNvPr>
          <p:cNvSpPr txBox="1"/>
          <p:nvPr/>
        </p:nvSpPr>
        <p:spPr>
          <a:xfrm>
            <a:off x="0" y="1720653"/>
            <a:ext cx="60127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Farmer inputs location, land area, optional soil, seeds, water, crop image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System integrates inputs with weather, soil, and market data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AI predicts crops, yield, profit; analyzes disease and suggests treatment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Recommendations delivered in local language; alerts sent when relevant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452BF1-A005-4687-EE61-80ED87415273}"/>
              </a:ext>
            </a:extLst>
          </p:cNvPr>
          <p:cNvSpPr txBox="1"/>
          <p:nvPr/>
        </p:nvSpPr>
        <p:spPr>
          <a:xfrm>
            <a:off x="-2117328" y="1112837"/>
            <a:ext cx="1010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Oswald" panose="00000500000000000000" pitchFamily="2" charset="0"/>
              </a:rPr>
              <a:t>Process 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DF471-9AE8-D089-4DFF-19A667FA5009}"/>
              </a:ext>
            </a:extLst>
          </p:cNvPr>
          <p:cNvSpPr txBox="1"/>
          <p:nvPr/>
        </p:nvSpPr>
        <p:spPr>
          <a:xfrm>
            <a:off x="0" y="4395951"/>
            <a:ext cx="1010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Oswald" panose="00000500000000000000" pitchFamily="2" charset="0"/>
              </a:rPr>
              <a:t>Technologies Used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1E8B07-6758-FB66-1298-4DCD3C203EEB}"/>
              </a:ext>
            </a:extLst>
          </p:cNvPr>
          <p:cNvSpPr txBox="1"/>
          <p:nvPr/>
        </p:nvSpPr>
        <p:spPr>
          <a:xfrm>
            <a:off x="5830000" y="4877434"/>
            <a:ext cx="5023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i="1" dirty="0">
                <a:solidFill>
                  <a:srgbClr val="009900"/>
                </a:solidFill>
                <a:latin typeface="Arial" panose="020B0604020202020204" pitchFamily="34" charset="0"/>
              </a:rPr>
              <a:t>Data Sources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1800" dirty="0"/>
              <a:t>IMD API for weather, Bhuvan, Soil Health Cards, AgriStack for market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i="1" dirty="0">
                <a:solidFill>
                  <a:srgbClr val="009900"/>
                </a:solidFill>
                <a:latin typeface="Arial" panose="020B0604020202020204" pitchFamily="34" charset="0"/>
              </a:rPr>
              <a:t>Backend &amp; Security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Cloud hosting, PostgreSQL/Firebase, encrypted land-linked data</a:t>
            </a: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36D55D4E-19FA-1932-E9DE-21E9C5816C29}"/>
              </a:ext>
            </a:extLst>
          </p:cNvPr>
          <p:cNvSpPr/>
          <p:nvPr/>
        </p:nvSpPr>
        <p:spPr>
          <a:xfrm>
            <a:off x="81023" y="1124500"/>
            <a:ext cx="11969463" cy="3207930"/>
          </a:xfrm>
          <a:prstGeom prst="snip1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22931C74-E2F4-0463-2F23-2A77CADA06DB}"/>
              </a:ext>
            </a:extLst>
          </p:cNvPr>
          <p:cNvSpPr/>
          <p:nvPr/>
        </p:nvSpPr>
        <p:spPr>
          <a:xfrm>
            <a:off x="204702" y="4453183"/>
            <a:ext cx="11624625" cy="1844347"/>
          </a:xfrm>
          <a:prstGeom prst="snip1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4" descr="Your startup LOGO"/>
          <p:cNvSpPr/>
          <p:nvPr/>
        </p:nvSpPr>
        <p:spPr>
          <a:xfrm>
            <a:off x="280842" y="89060"/>
            <a:ext cx="1498800" cy="9276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Cipher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Squad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40" name="Google Shape;140;p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0127" y="1539880"/>
            <a:ext cx="5143474" cy="262414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6807299" y="4172365"/>
            <a:ext cx="5384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 prove feasibility of our idea, we already, built a small working prototype</a:t>
            </a:r>
            <a:endParaRPr sz="13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8CBC7-A24B-50EE-2F24-0C1A5EFCF1A9}"/>
              </a:ext>
            </a:extLst>
          </p:cNvPr>
          <p:cNvSpPr txBox="1"/>
          <p:nvPr/>
        </p:nvSpPr>
        <p:spPr>
          <a:xfrm>
            <a:off x="348399" y="1767303"/>
            <a:ext cx="60887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100" b="1" i="1" dirty="0">
                <a:solidFill>
                  <a:srgbClr val="009900"/>
                </a:solidFill>
                <a:latin typeface="Arial" panose="020B0604020202020204" pitchFamily="34" charset="0"/>
              </a:rPr>
              <a:t>Uses public datasets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: Soil Health Cards, Bhuvan, AgriStack, IMD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100" b="1" i="1" dirty="0">
                <a:solidFill>
                  <a:srgbClr val="009900"/>
                </a:solidFill>
                <a:latin typeface="Arial" panose="020B0604020202020204" pitchFamily="34" charset="0"/>
              </a:rPr>
              <a:t>AI models 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detect disease and predict crops accurately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100" b="1" i="1" dirty="0">
                <a:solidFill>
                  <a:srgbClr val="009900"/>
                </a:solidFill>
                <a:latin typeface="Arial" panose="020B0604020202020204" pitchFamily="34" charset="0"/>
              </a:rPr>
              <a:t>Offline support 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and low-end phone compatibility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Encrypted land-linked data with </a:t>
            </a:r>
            <a:r>
              <a:rPr lang="en-US" altLang="en-US" sz="2100" b="1" i="1" dirty="0">
                <a:solidFill>
                  <a:srgbClr val="009900"/>
                </a:solidFill>
                <a:latin typeface="Arial" panose="020B0604020202020204" pitchFamily="34" charset="0"/>
              </a:rPr>
              <a:t>consent-based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3502B-18C0-42B4-7C0C-0BE0310730A4}"/>
              </a:ext>
            </a:extLst>
          </p:cNvPr>
          <p:cNvSpPr txBox="1"/>
          <p:nvPr/>
        </p:nvSpPr>
        <p:spPr>
          <a:xfrm>
            <a:off x="509452" y="4998906"/>
            <a:ext cx="111818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Low-cost by leveraging existing APIs and datasets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Scalable across regions and multiple crops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Intuitive multilingual interface with voice/text support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Boosts yield, reduces waste, and encourages sustainability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FB268-BA77-2DCE-B2CB-24AD8959F77E}"/>
              </a:ext>
            </a:extLst>
          </p:cNvPr>
          <p:cNvSpPr txBox="1"/>
          <p:nvPr/>
        </p:nvSpPr>
        <p:spPr>
          <a:xfrm>
            <a:off x="1037976" y="4486517"/>
            <a:ext cx="823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Oswald" panose="00000500000000000000" pitchFamily="2" charset="0"/>
              </a:rPr>
              <a:t>Viability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729C4-23A8-5C49-AF8D-E14C293FE5BE}"/>
              </a:ext>
            </a:extLst>
          </p:cNvPr>
          <p:cNvSpPr txBox="1"/>
          <p:nvPr/>
        </p:nvSpPr>
        <p:spPr>
          <a:xfrm>
            <a:off x="509452" y="1049215"/>
            <a:ext cx="1010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Oswald" panose="00000500000000000000" pitchFamily="2" charset="0"/>
              </a:rPr>
              <a:t>Feasibility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889D12AE-36C5-E40C-7206-F75C6CF90874}"/>
              </a:ext>
            </a:extLst>
          </p:cNvPr>
          <p:cNvSpPr/>
          <p:nvPr/>
        </p:nvSpPr>
        <p:spPr>
          <a:xfrm>
            <a:off x="280842" y="1125573"/>
            <a:ext cx="11769644" cy="3342105"/>
          </a:xfrm>
          <a:prstGeom prst="snip1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1FCEF904-933C-9277-7B93-E924210EC378}"/>
              </a:ext>
            </a:extLst>
          </p:cNvPr>
          <p:cNvSpPr/>
          <p:nvPr/>
        </p:nvSpPr>
        <p:spPr>
          <a:xfrm>
            <a:off x="280842" y="4516716"/>
            <a:ext cx="11769644" cy="1737368"/>
          </a:xfrm>
          <a:prstGeom prst="snip1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09600" y="2399653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5" descr="Your startup LOGO"/>
          <p:cNvSpPr/>
          <p:nvPr/>
        </p:nvSpPr>
        <p:spPr>
          <a:xfrm>
            <a:off x="225855" y="57097"/>
            <a:ext cx="1584000" cy="9276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Cipher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Squad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53" name="Google Shape;153;p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5"/>
          <p:cNvGraphicFramePr/>
          <p:nvPr>
            <p:extLst>
              <p:ext uri="{D42A27DB-BD31-4B8C-83A1-F6EECF244321}">
                <p14:modId xmlns:p14="http://schemas.microsoft.com/office/powerpoint/2010/main" val="3957226427"/>
              </p:ext>
            </p:extLst>
          </p:nvPr>
        </p:nvGraphicFramePr>
        <p:xfrm>
          <a:off x="855050" y="1266150"/>
          <a:ext cx="10727349" cy="4423055"/>
        </p:xfrm>
        <a:graphic>
          <a:graphicData uri="http://schemas.openxmlformats.org/drawingml/2006/table">
            <a:tbl>
              <a:tblPr>
                <a:noFill/>
                <a:tableStyleId>{05774FA2-0667-4CD5-ADD5-5A9EAD3D377C}</a:tableStyleId>
              </a:tblPr>
              <a:tblGrid>
                <a:gridCol w="3584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dirty="0">
                          <a:solidFill>
                            <a:srgbClr val="C00000"/>
                          </a:solidFill>
                          <a:latin typeface="Oswald" panose="00000500000000000000" pitchFamily="2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dirty="0">
                          <a:solidFill>
                            <a:srgbClr val="C00000"/>
                          </a:solidFill>
                          <a:latin typeface="Oswald" panose="00000500000000000000" pitchFamily="2" charset="0"/>
                        </a:rPr>
                        <a:t>Impact</a:t>
                      </a:r>
                      <a:endParaRPr lang="en-IN" sz="3600" dirty="0">
                        <a:solidFill>
                          <a:srgbClr val="C00000"/>
                        </a:solidFill>
                        <a:latin typeface="Oswald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i="0" dirty="0">
                          <a:solidFill>
                            <a:srgbClr val="C00000"/>
                          </a:solidFill>
                          <a:latin typeface="Oswald" panose="00000500000000000000" pitchFamily="2" charset="0"/>
                        </a:rPr>
                        <a:t>Benefit</a:t>
                      </a:r>
                      <a:endParaRPr lang="en-IN" sz="3600" i="0" dirty="0">
                        <a:solidFill>
                          <a:srgbClr val="C00000"/>
                        </a:solidFill>
                        <a:latin typeface="Oswald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1" dirty="0">
                          <a:solidFill>
                            <a:srgbClr val="008000"/>
                          </a:solidFill>
                        </a:rPr>
                        <a:t>Offline Functionality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Works in low/no connectivity areas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Farmers in remote regions can access advice anytime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1" dirty="0">
                          <a:solidFill>
                            <a:srgbClr val="008000"/>
                          </a:solidFill>
                        </a:rPr>
                        <a:t>AI-Driven Crop &amp; Disease Predictions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Provides yield, profit, crop choice, and disease forecasts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Enables smarter decisions, reduces crop loss, improves profitability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1" dirty="0">
                          <a:solidFill>
                            <a:srgbClr val="008000"/>
                          </a:solidFill>
                        </a:rPr>
                        <a:t>Multilingual Voice &amp; Chat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Supports local languages and natural interactions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Inclusive access for low-literacy farmers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1" dirty="0">
                          <a:solidFill>
                            <a:srgbClr val="008000"/>
                          </a:solidFill>
                        </a:rPr>
                        <a:t>Market &amp; Sustainability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Suggests crop choices considering supply, prices, and soil 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Preserves soil, prevents oversupply, maximizes long-term 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494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219825" y="470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63" name="Google Shape;163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6" descr="Your startup LOGO"/>
          <p:cNvSpPr/>
          <p:nvPr/>
        </p:nvSpPr>
        <p:spPr>
          <a:xfrm>
            <a:off x="329775" y="252250"/>
            <a:ext cx="1437900" cy="9276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Cipher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4300"/>
                </a:solidFill>
                <a:latin typeface="Lobster"/>
                <a:ea typeface="Lobster"/>
                <a:cs typeface="Lobster"/>
                <a:sym typeface="Lobster"/>
              </a:rPr>
              <a:t>Squad</a:t>
            </a:r>
            <a:endParaRPr sz="2000" dirty="0">
              <a:solidFill>
                <a:srgbClr val="0043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65" name="Google Shape;165;p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106775" y="6100175"/>
            <a:ext cx="602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Note: Text formatted like </a:t>
            </a:r>
            <a:r>
              <a:rPr lang="en-US" sz="8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" action="ppaction://noaction"/>
              </a:rPr>
              <a:t>this</a:t>
            </a:r>
            <a:r>
              <a:rPr lang="en-US" sz="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is a hyperlink</a:t>
            </a:r>
            <a:endParaRPr sz="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5CF5F8-13D2-7A58-3206-D7B801228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813034"/>
              </p:ext>
            </p:extLst>
          </p:nvPr>
        </p:nvGraphicFramePr>
        <p:xfrm>
          <a:off x="1162594" y="1653540"/>
          <a:ext cx="9901646" cy="4036060"/>
        </p:xfrm>
        <a:graphic>
          <a:graphicData uri="http://schemas.openxmlformats.org/drawingml/2006/table">
            <a:tbl>
              <a:tblPr firstRow="1" bandRow="1">
                <a:tableStyleId>{05774FA2-0667-4CD5-ADD5-5A9EAD3D377C}</a:tableStyleId>
              </a:tblPr>
              <a:tblGrid>
                <a:gridCol w="3277326">
                  <a:extLst>
                    <a:ext uri="{9D8B030D-6E8A-4147-A177-3AD203B41FA5}">
                      <a16:colId xmlns:a16="http://schemas.microsoft.com/office/drawing/2014/main" val="1917403459"/>
                    </a:ext>
                  </a:extLst>
                </a:gridCol>
                <a:gridCol w="3312160">
                  <a:extLst>
                    <a:ext uri="{9D8B030D-6E8A-4147-A177-3AD203B41FA5}">
                      <a16:colId xmlns:a16="http://schemas.microsoft.com/office/drawing/2014/main" val="2235165632"/>
                    </a:ext>
                  </a:extLst>
                </a:gridCol>
                <a:gridCol w="3312160">
                  <a:extLst>
                    <a:ext uri="{9D8B030D-6E8A-4147-A177-3AD203B41FA5}">
                      <a16:colId xmlns:a16="http://schemas.microsoft.com/office/drawing/2014/main" val="3392340258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FF0000"/>
                          </a:solidFill>
                          <a:latin typeface="Oswald" panose="00000500000000000000" pitchFamily="2" charset="0"/>
                        </a:rPr>
                        <a:t>Resource</a:t>
                      </a:r>
                      <a:endParaRPr lang="en-IN" sz="3600" dirty="0">
                        <a:solidFill>
                          <a:srgbClr val="FF0000"/>
                        </a:solidFill>
                        <a:latin typeface="Oswald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FF0000"/>
                          </a:solidFill>
                          <a:latin typeface="Oswald" panose="00000500000000000000" pitchFamily="2" charset="0"/>
                        </a:rPr>
                        <a:t>Detail</a:t>
                      </a:r>
                      <a:endParaRPr lang="en-IN" sz="3600" dirty="0">
                        <a:solidFill>
                          <a:srgbClr val="FF0000"/>
                        </a:solidFill>
                        <a:latin typeface="Oswald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FF0000"/>
                          </a:solidFill>
                          <a:latin typeface="Oswald" panose="00000500000000000000" pitchFamily="2" charset="0"/>
                        </a:rPr>
                        <a:t>Link</a:t>
                      </a:r>
                      <a:endParaRPr lang="en-IN" sz="3600" dirty="0">
                        <a:solidFill>
                          <a:srgbClr val="FF0000"/>
                        </a:solidFill>
                        <a:latin typeface="Oswald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020834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Soil Health 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Farm soil nutrient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hlinkClick r:id="rId4"/>
                        </a:rPr>
                        <a:t>https://soilhealth.dac.gov.in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98374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Bhuvan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Satellite soil and land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hlinkClick r:id="rId5"/>
                        </a:rPr>
                        <a:t>https://bhuvan.nrsc.gov.in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846852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NASA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Weather, solar, climate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hlinkClick r:id="rId6"/>
                        </a:rPr>
                        <a:t>https://power.larc.nasa.gov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936592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IndianAPI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Aggregated government agri &amp; weather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hlinkClick r:id="rId7"/>
                        </a:rPr>
                        <a:t>https://www.indianapi.in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219944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SAMETI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Agricultural guidelines and advisory 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hlinkClick r:id="rId8"/>
                        </a:rPr>
                        <a:t>https://www.sameti.org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9052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946</Words>
  <Application>Microsoft Office PowerPoint</Application>
  <PresentationFormat>Widescreen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Oswald</vt:lpstr>
      <vt:lpstr>Calibri</vt:lpstr>
      <vt:lpstr>Lobster</vt:lpstr>
      <vt:lpstr>Garamond</vt:lpstr>
      <vt:lpstr>Arial</vt:lpstr>
      <vt:lpstr>Office Theme</vt:lpstr>
      <vt:lpstr>SMART INDIA HACKATHON 2025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Jewel Thomas</cp:lastModifiedBy>
  <cp:revision>5</cp:revision>
  <dcterms:created xsi:type="dcterms:W3CDTF">2013-12-12T18:46:50Z</dcterms:created>
  <dcterms:modified xsi:type="dcterms:W3CDTF">2025-09-29T16:14:34Z</dcterms:modified>
</cp:coreProperties>
</file>